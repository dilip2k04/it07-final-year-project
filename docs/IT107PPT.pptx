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60" r:id="rId5"/>
    <p:sldId id="266" r:id="rId6"/>
    <p:sldId id="267"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FC61B6B-3C7E-4CCE-8E1B-66AADB6354CD}"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1468242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C61B6B-3C7E-4CCE-8E1B-66AADB6354CD}"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2018949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C61B6B-3C7E-4CCE-8E1B-66AADB6354CD}"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1302587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FC61B6B-3C7E-4CCE-8E1B-66AADB6354CD}"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2356438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FC61B6B-3C7E-4CCE-8E1B-66AADB6354CD}"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1977388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FC61B6B-3C7E-4CCE-8E1B-66AADB6354CD}"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3463978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C61B6B-3C7E-4CCE-8E1B-66AADB6354CD}"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1026792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C61B6B-3C7E-4CCE-8E1B-66AADB6354CD}"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224447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C61B6B-3C7E-4CCE-8E1B-66AADB6354CD}"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2453391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C61B6B-3C7E-4CCE-8E1B-66AADB6354CD}"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3974411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C61B6B-3C7E-4CCE-8E1B-66AADB6354CD}"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0BAA1-0411-4165-8622-236754B70501}" type="slidenum">
              <a:rPr lang="en-US" smtClean="0"/>
              <a:t>‹#›</a:t>
            </a:fld>
            <a:endParaRPr lang="en-US"/>
          </a:p>
        </p:txBody>
      </p:sp>
    </p:spTree>
    <p:extLst>
      <p:ext uri="{BB962C8B-B14F-4D97-AF65-F5344CB8AC3E}">
        <p14:creationId xmlns:p14="http://schemas.microsoft.com/office/powerpoint/2010/main" val="3595221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C61B6B-3C7E-4CCE-8E1B-66AADB6354CD}" type="datetimeFigureOut">
              <a:rPr lang="en-US" smtClean="0"/>
              <a:t>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20BAA1-0411-4165-8622-236754B70501}" type="slidenum">
              <a:rPr lang="en-US" smtClean="0"/>
              <a:t>‹#›</a:t>
            </a:fld>
            <a:endParaRPr lang="en-US"/>
          </a:p>
        </p:txBody>
      </p:sp>
    </p:spTree>
    <p:extLst>
      <p:ext uri="{BB962C8B-B14F-4D97-AF65-F5344CB8AC3E}">
        <p14:creationId xmlns:p14="http://schemas.microsoft.com/office/powerpoint/2010/main" val="3602492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8415" y="947058"/>
            <a:ext cx="10487609" cy="2803849"/>
          </a:xfrm>
        </p:spPr>
        <p:txBody>
          <a:bodyPr>
            <a:normAutofit fontScale="90000"/>
          </a:bodyPr>
          <a:lstStyle/>
          <a:p>
            <a:r>
              <a:rPr lang="en-IN" b="1" dirty="0">
                <a:latin typeface="Times New Roman" panose="02020603050405020304" pitchFamily="18" charset="0"/>
                <a:cs typeface="Times New Roman" panose="02020603050405020304" pitchFamily="18" charset="0"/>
              </a:rPr>
              <a:t>LEVERAGING LOCAL LLM’s TO </a:t>
            </a:r>
            <a:r>
              <a:rPr lang="en-IN" b="1">
                <a:latin typeface="Times New Roman" panose="02020603050405020304" pitchFamily="18" charset="0"/>
                <a:cs typeface="Times New Roman" panose="02020603050405020304" pitchFamily="18" charset="0"/>
              </a:rPr>
              <a:t>BENEFIT PC USERS </a:t>
            </a:r>
            <a:r>
              <a:rPr lang="en-IN" b="1" dirty="0">
                <a:latin typeface="Times New Roman" panose="02020603050405020304" pitchFamily="18" charset="0"/>
                <a:cs typeface="Times New Roman" panose="02020603050405020304" pitchFamily="18" charset="0"/>
              </a:rPr>
              <a:t>AND FINE-TUNE PCs FOR PROFFESSIONAL WORKERS</a:t>
            </a:r>
            <a:endParaRPr lang="en-IN"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573486" y="4254758"/>
            <a:ext cx="6618514" cy="1903446"/>
          </a:xfrm>
        </p:spPr>
        <p:txBody>
          <a:bodyPr>
            <a:normAutofit/>
          </a:bodyPr>
          <a:lstStyle/>
          <a:p>
            <a:pPr algn="l"/>
            <a:r>
              <a:rPr lang="en-US" sz="2600" b="1" dirty="0">
                <a:latin typeface="Times New Roman" panose="02020603050405020304" pitchFamily="18" charset="0"/>
                <a:cs typeface="Times New Roman" panose="02020603050405020304" pitchFamily="18" charset="0"/>
              </a:rPr>
              <a:t>TEAM MEMBERS</a:t>
            </a:r>
          </a:p>
          <a:p>
            <a:pPr lvl="1" algn="l"/>
            <a:r>
              <a:rPr lang="en-IN" b="1" i="1" dirty="0">
                <a:latin typeface="Times New Roman" panose="02020603050405020304" pitchFamily="18" charset="0"/>
                <a:cs typeface="Times New Roman" panose="02020603050405020304" pitchFamily="18" charset="0"/>
              </a:rPr>
              <a:t>Dilip Kumar. G [ 313522205010]</a:t>
            </a:r>
            <a:endParaRPr lang="en-IN" dirty="0">
              <a:latin typeface="Times New Roman" panose="02020603050405020304" pitchFamily="18" charset="0"/>
              <a:cs typeface="Times New Roman" panose="02020603050405020304" pitchFamily="18" charset="0"/>
            </a:endParaRPr>
          </a:p>
          <a:p>
            <a:pPr lvl="1" algn="l"/>
            <a:r>
              <a:rPr lang="en-IN" b="1" i="1" dirty="0">
                <a:latin typeface="Times New Roman" panose="02020603050405020304" pitchFamily="18" charset="0"/>
                <a:cs typeface="Times New Roman" panose="02020603050405020304" pitchFamily="18" charset="0"/>
              </a:rPr>
              <a:t>Kishore. B [ 313522205030]</a:t>
            </a:r>
            <a:endParaRPr lang="en-IN" dirty="0">
              <a:latin typeface="Times New Roman" panose="02020603050405020304" pitchFamily="18" charset="0"/>
              <a:cs typeface="Times New Roman" panose="02020603050405020304" pitchFamily="18" charset="0"/>
            </a:endParaRPr>
          </a:p>
          <a:p>
            <a:pPr lvl="1" algn="l"/>
            <a:r>
              <a:rPr lang="en-IN" b="1" i="1" dirty="0">
                <a:latin typeface="Times New Roman" panose="02020603050405020304" pitchFamily="18" charset="0"/>
                <a:cs typeface="Times New Roman" panose="02020603050405020304" pitchFamily="18" charset="0"/>
              </a:rPr>
              <a:t>Mohan. M [ 313522205036]</a:t>
            </a:r>
          </a:p>
          <a:p>
            <a:pPr lvl="1" algn="l"/>
            <a:r>
              <a:rPr lang="en-IN" b="1" i="1" dirty="0">
                <a:latin typeface="Times New Roman" panose="02020603050405020304" pitchFamily="18" charset="0"/>
                <a:cs typeface="Times New Roman" panose="02020603050405020304" pitchFamily="18" charset="0"/>
              </a:rPr>
              <a:t>Muthu </a:t>
            </a:r>
            <a:r>
              <a:rPr lang="en-IN" b="1" i="1" dirty="0" err="1">
                <a:latin typeface="Times New Roman" panose="02020603050405020304" pitchFamily="18" charset="0"/>
                <a:cs typeface="Times New Roman" panose="02020603050405020304" pitchFamily="18" charset="0"/>
              </a:rPr>
              <a:t>Karthickeyan</a:t>
            </a:r>
            <a:r>
              <a:rPr lang="en-IN" b="1" i="1" dirty="0">
                <a:latin typeface="Times New Roman" panose="02020603050405020304" pitchFamily="18" charset="0"/>
                <a:cs typeface="Times New Roman" panose="02020603050405020304" pitchFamily="18" charset="0"/>
              </a:rPr>
              <a:t>. D [ 313522205038]</a:t>
            </a:r>
            <a:endParaRPr lang="en-IN"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1443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3625"/>
            <a:ext cx="10515600" cy="878048"/>
          </a:xfrm>
        </p:spPr>
        <p:txBody>
          <a:bodyPr>
            <a:normAutofit/>
          </a:bodyPr>
          <a:lstStyle/>
          <a:p>
            <a:pPr algn="ctr"/>
            <a:r>
              <a:rPr lang="en-US" sz="4200"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818967"/>
            <a:ext cx="10862388" cy="4878817"/>
          </a:xfrm>
        </p:spPr>
        <p:txBody>
          <a:bodyPr>
            <a:noAutofit/>
          </a:bodyPr>
          <a:lstStyle/>
          <a:p>
            <a:pPr marL="0" indent="0">
              <a:lnSpc>
                <a:spcPct val="100000"/>
              </a:lnSpc>
              <a:buNone/>
            </a:pPr>
            <a:r>
              <a:rPr lang="en-US" sz="1800" dirty="0">
                <a:latin typeface="Times New Roman" panose="02020603050405020304" pitchFamily="18" charset="0"/>
                <a:cs typeface="Times New Roman" panose="02020603050405020304" pitchFamily="18" charset="0"/>
              </a:rPr>
              <a:t>Modern organizations rely heavily on digital systems to manage departments, projects, tasks, and documents. However, many existing project management systems lack structured Role-Based Access Control (RBAC) and intelligent assistance, resulting in:</a:t>
            </a:r>
          </a:p>
          <a:p>
            <a:pPr>
              <a:lnSpc>
                <a:spcPct val="100000"/>
              </a:lnSpc>
            </a:pPr>
            <a:r>
              <a:rPr lang="en-US" sz="1800" dirty="0">
                <a:latin typeface="Times New Roman" panose="02020603050405020304" pitchFamily="18" charset="0"/>
                <a:cs typeface="Times New Roman" panose="02020603050405020304" pitchFamily="18" charset="0"/>
              </a:rPr>
              <a:t>Unauthorized access to sensitive data</a:t>
            </a:r>
          </a:p>
          <a:p>
            <a:pPr>
              <a:lnSpc>
                <a:spcPct val="100000"/>
              </a:lnSpc>
            </a:pPr>
            <a:r>
              <a:rPr lang="en-US" sz="1800" dirty="0">
                <a:latin typeface="Times New Roman" panose="02020603050405020304" pitchFamily="18" charset="0"/>
                <a:cs typeface="Times New Roman" panose="02020603050405020304" pitchFamily="18" charset="0"/>
              </a:rPr>
              <a:t>Inefficient task tracking and manual coordination</a:t>
            </a:r>
          </a:p>
          <a:p>
            <a:pPr>
              <a:lnSpc>
                <a:spcPct val="100000"/>
              </a:lnSpc>
            </a:pPr>
            <a:r>
              <a:rPr lang="en-US" sz="1800" dirty="0">
                <a:latin typeface="Times New Roman" panose="02020603050405020304" pitchFamily="18" charset="0"/>
                <a:cs typeface="Times New Roman" panose="02020603050405020304" pitchFamily="18" charset="0"/>
              </a:rPr>
              <a:t>Lack of clarity in user responsibilities</a:t>
            </a:r>
          </a:p>
          <a:p>
            <a:pPr>
              <a:lnSpc>
                <a:spcPct val="100000"/>
              </a:lnSpc>
            </a:pPr>
            <a:r>
              <a:rPr lang="en-US" sz="1800" dirty="0">
                <a:latin typeface="Times New Roman" panose="02020603050405020304" pitchFamily="18" charset="0"/>
                <a:cs typeface="Times New Roman" panose="02020603050405020304" pitchFamily="18" charset="0"/>
              </a:rPr>
              <a:t>Absence of intelligent support for decision-making</a:t>
            </a:r>
          </a:p>
          <a:p>
            <a:pPr>
              <a:lnSpc>
                <a:spcPct val="100000"/>
              </a:lnSpc>
            </a:pPr>
            <a:r>
              <a:rPr lang="en-US" sz="1800" dirty="0">
                <a:latin typeface="Times New Roman" panose="02020603050405020304" pitchFamily="18" charset="0"/>
                <a:cs typeface="Times New Roman" panose="02020603050405020304" pitchFamily="18" charset="0"/>
              </a:rPr>
              <a:t>Although Artificial Intelligence (AI) can improve productivity, its uncontrolled integration may violate organizational security and hierarchy.</a:t>
            </a:r>
          </a:p>
          <a:p>
            <a:pPr marL="0" indent="0">
              <a:lnSpc>
                <a:spcPct val="100000"/>
              </a:lnSpc>
              <a:buNone/>
            </a:pPr>
            <a:r>
              <a:rPr lang="en-US" sz="1800" dirty="0">
                <a:latin typeface="Times New Roman" panose="02020603050405020304" pitchFamily="18" charset="0"/>
                <a:cs typeface="Times New Roman" panose="02020603050405020304" pitchFamily="18" charset="0"/>
              </a:rPr>
              <a:t>Hence, there is a need to design a secure project management system that integrates AI assistance while strictly enforcing role-based access control to improve productivity, security, and workflow efficiency.</a:t>
            </a:r>
          </a:p>
          <a:p>
            <a:pPr marL="0" indent="0">
              <a:lnSpc>
                <a:spcPct val="10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8056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7500"/>
          </a:xfrm>
        </p:spPr>
        <p:txBody>
          <a:bodyPr>
            <a:normAutofit/>
          </a:bodyPr>
          <a:lstStyle/>
          <a:p>
            <a:pPr algn="ctr"/>
            <a:r>
              <a:rPr lang="en-US" sz="4200"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620146" y="1451114"/>
            <a:ext cx="11274869" cy="5285748"/>
          </a:xfrm>
        </p:spPr>
        <p:txBody>
          <a:bodyPr>
            <a:normAutofit lnSpcReduction="10000"/>
          </a:bodyPr>
          <a:lstStyle/>
          <a:p>
            <a:pPr marL="0" indent="0">
              <a:lnSpc>
                <a:spcPct val="160000"/>
              </a:lnSpc>
              <a:buNone/>
            </a:pPr>
            <a:r>
              <a:rPr lang="en-US" sz="1800" dirty="0">
                <a:latin typeface="Times New Roman" panose="02020603050405020304" pitchFamily="18" charset="0"/>
                <a:cs typeface="Times New Roman" panose="02020603050405020304" pitchFamily="18" charset="0"/>
              </a:rPr>
              <a:t>Modern organizations require secure and efficient systems to manage departments, projects, tasks, and documents while maintaining strict access control. Traditional project management solutions often lack structured role-based access and intelligent support, leading to inefficient workflows and security </a:t>
            </a:r>
            <a:r>
              <a:rPr lang="en-US" sz="1800" dirty="0" err="1">
                <a:latin typeface="Times New Roman" panose="02020603050405020304" pitchFamily="18" charset="0"/>
                <a:cs typeface="Times New Roman" panose="02020603050405020304" pitchFamily="18" charset="0"/>
              </a:rPr>
              <a:t>risks.This</a:t>
            </a:r>
            <a:r>
              <a:rPr lang="en-US" sz="1800" dirty="0">
                <a:latin typeface="Times New Roman" panose="02020603050405020304" pitchFamily="18" charset="0"/>
                <a:cs typeface="Times New Roman" panose="02020603050405020304" pitchFamily="18" charset="0"/>
              </a:rPr>
              <a:t> project presents a role-based project management system integrated with Artificial Intelligence (AI) assistance to enhance organizational productivity and workflow efficiency. The system defines four hierarchical roles—CEO, Manager, Project Lead, and Employee—each with clearly enforced Role-Based Access Control (RBAC). The CEO manages departments and users, Managers oversee projects and teams, Project Leads assign tasks and manage documents, and Employees update task progress and access assigned resources. An integrated local AI assistant provides intelligent support such as query handling, information summarization, and task-related assistance, while strictly adhering to access control policies and organizational hierarchy. The system follows a modular and scalable architecture, ensuring security, maintainability, and future </a:t>
            </a:r>
            <a:r>
              <a:rPr lang="en-US" sz="1800" dirty="0" err="1">
                <a:latin typeface="Times New Roman" panose="02020603050405020304" pitchFamily="18" charset="0"/>
                <a:cs typeface="Times New Roman" panose="02020603050405020304" pitchFamily="18" charset="0"/>
              </a:rPr>
              <a:t>extensibility.The</a:t>
            </a:r>
            <a:r>
              <a:rPr lang="en-US" sz="1800" dirty="0">
                <a:latin typeface="Times New Roman" panose="02020603050405020304" pitchFamily="18" charset="0"/>
                <a:cs typeface="Times New Roman" panose="02020603050405020304" pitchFamily="18" charset="0"/>
              </a:rPr>
              <a:t> proposed solution demonstrates how combining RBAC with controlled AI assistance improves collaboration, accountability, and operational efficiency in modern enterprise environments.</a:t>
            </a:r>
          </a:p>
        </p:txBody>
      </p:sp>
    </p:spTree>
    <p:extLst>
      <p:ext uri="{BB962C8B-B14F-4D97-AF65-F5344CB8AC3E}">
        <p14:creationId xmlns:p14="http://schemas.microsoft.com/office/powerpoint/2010/main" val="278267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7500"/>
          </a:xfrm>
        </p:spPr>
        <p:txBody>
          <a:bodyPr>
            <a:normAutofit/>
          </a:bodyPr>
          <a:lstStyle/>
          <a:p>
            <a:pPr algn="ctr"/>
            <a:r>
              <a:rPr lang="en-US" sz="42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640862" y="1141046"/>
            <a:ext cx="11227677" cy="5634892"/>
          </a:xfrm>
        </p:spPr>
        <p:txBody>
          <a:bodyPr>
            <a:normAutofit/>
          </a:bodyPr>
          <a:lstStyle/>
          <a:p>
            <a:pPr marL="0" indent="0">
              <a:lnSpc>
                <a:spcPct val="110000"/>
              </a:lnSpc>
              <a:buNone/>
            </a:pPr>
            <a:r>
              <a:rPr lang="en-US" sz="1800" dirty="0">
                <a:latin typeface="Times New Roman" panose="02020603050405020304" pitchFamily="18" charset="0"/>
                <a:cs typeface="Times New Roman" panose="02020603050405020304" pitchFamily="18" charset="0"/>
              </a:rPr>
              <a:t>With the increasing complexity of organizational workflows, efficient project and task management has become essential. Traditional systems often rely on manual coordination, spreadsheets, or standalone tools, leading to poor collaboration and security risks. The advancement of Artificial Intelligence (AI) enables intelligent systems that can assist users by answering queries, summarizing information, and improving productivity. However, AI integration must be regulated to ensure security and access control.</a:t>
            </a:r>
          </a:p>
          <a:p>
            <a:pPr>
              <a:lnSpc>
                <a:spcPct val="110000"/>
              </a:lnSpc>
            </a:pPr>
            <a:r>
              <a:rPr lang="en-US" sz="1800" dirty="0">
                <a:latin typeface="Times New Roman" panose="02020603050405020304" pitchFamily="18" charset="0"/>
                <a:cs typeface="Times New Roman" panose="02020603050405020304" pitchFamily="18" charset="0"/>
              </a:rPr>
              <a:t>This project proposes a role-based project management system integrated with AI assistance. The system supports four hierarchical roles:</a:t>
            </a:r>
          </a:p>
          <a:p>
            <a:pPr>
              <a:lnSpc>
                <a:spcPct val="110000"/>
              </a:lnSpc>
            </a:pPr>
            <a:r>
              <a:rPr lang="en-US" sz="1800" dirty="0">
                <a:latin typeface="Times New Roman" panose="02020603050405020304" pitchFamily="18" charset="0"/>
                <a:cs typeface="Times New Roman" panose="02020603050405020304" pitchFamily="18" charset="0"/>
              </a:rPr>
              <a:t>CEO</a:t>
            </a:r>
          </a:p>
          <a:p>
            <a:pPr>
              <a:lnSpc>
                <a:spcPct val="110000"/>
              </a:lnSpc>
            </a:pPr>
            <a:r>
              <a:rPr lang="en-US" sz="1800" dirty="0">
                <a:latin typeface="Times New Roman" panose="02020603050405020304" pitchFamily="18" charset="0"/>
                <a:cs typeface="Times New Roman" panose="02020603050405020304" pitchFamily="18" charset="0"/>
              </a:rPr>
              <a:t>Manager</a:t>
            </a:r>
          </a:p>
          <a:p>
            <a:pPr>
              <a:lnSpc>
                <a:spcPct val="110000"/>
              </a:lnSpc>
            </a:pPr>
            <a:r>
              <a:rPr lang="en-US" sz="1800" dirty="0">
                <a:latin typeface="Times New Roman" panose="02020603050405020304" pitchFamily="18" charset="0"/>
                <a:cs typeface="Times New Roman" panose="02020603050405020304" pitchFamily="18" charset="0"/>
              </a:rPr>
              <a:t>Project Lead</a:t>
            </a:r>
          </a:p>
          <a:p>
            <a:pPr>
              <a:lnSpc>
                <a:spcPct val="110000"/>
              </a:lnSpc>
            </a:pPr>
            <a:r>
              <a:rPr lang="en-US" sz="1800" dirty="0">
                <a:latin typeface="Times New Roman" panose="02020603050405020304" pitchFamily="18" charset="0"/>
                <a:cs typeface="Times New Roman" panose="02020603050405020304" pitchFamily="18" charset="0"/>
              </a:rPr>
              <a:t>Employee</a:t>
            </a:r>
          </a:p>
          <a:p>
            <a:pPr marL="0" indent="0">
              <a:lnSpc>
                <a:spcPct val="110000"/>
              </a:lnSpc>
              <a:buNone/>
            </a:pPr>
            <a:r>
              <a:rPr lang="en-US" sz="1800" dirty="0">
                <a:latin typeface="Times New Roman" panose="02020603050405020304" pitchFamily="18" charset="0"/>
                <a:cs typeface="Times New Roman" panose="02020603050405020304" pitchFamily="18" charset="0"/>
              </a:rPr>
              <a:t>Each role has clearly defined permissions enforced using Role-Based Access Control (RBAC). The integrated AI assistant provides </a:t>
            </a:r>
            <a:r>
              <a:rPr lang="en-US" sz="1800" dirty="0"/>
              <a:t>intelligent support without violating access policies, ensuring secure and efficient organizational operations.</a:t>
            </a:r>
          </a:p>
        </p:txBody>
      </p:sp>
    </p:spTree>
    <p:extLst>
      <p:ext uri="{BB962C8B-B14F-4D97-AF65-F5344CB8AC3E}">
        <p14:creationId xmlns:p14="http://schemas.microsoft.com/office/powerpoint/2010/main" val="2222636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806FD-E90D-4978-7726-4337B4E75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20F8A-7AF2-E1F3-36D0-74D972CB7932}"/>
              </a:ext>
            </a:extLst>
          </p:cNvPr>
          <p:cNvSpPr>
            <a:spLocks noGrp="1"/>
          </p:cNvSpPr>
          <p:nvPr>
            <p:ph type="title"/>
          </p:nvPr>
        </p:nvSpPr>
        <p:spPr>
          <a:xfrm>
            <a:off x="838200" y="365125"/>
            <a:ext cx="10515600" cy="960241"/>
          </a:xfrm>
        </p:spPr>
        <p:txBody>
          <a:bodyPr>
            <a:normAutofit/>
          </a:bodyPr>
          <a:lstStyle/>
          <a:p>
            <a:pPr algn="ctr"/>
            <a:r>
              <a:rPr lang="en-US" sz="4200" dirty="0">
                <a:latin typeface="Times New Roman" panose="02020603050405020304" pitchFamily="18" charset="0"/>
                <a:cs typeface="Times New Roman" panose="02020603050405020304" pitchFamily="18" charset="0"/>
              </a:rPr>
              <a:t>TOOLS AND TECHNOLOGIES</a:t>
            </a:r>
          </a:p>
        </p:txBody>
      </p:sp>
      <p:sp>
        <p:nvSpPr>
          <p:cNvPr id="6" name="Rectangle 1">
            <a:extLst>
              <a:ext uri="{FF2B5EF4-FFF2-40B4-BE49-F238E27FC236}">
                <a16:creationId xmlns:a16="http://schemas.microsoft.com/office/drawing/2014/main" id="{F3E8435C-C608-48A0-59EF-431456586249}"/>
              </a:ext>
            </a:extLst>
          </p:cNvPr>
          <p:cNvSpPr>
            <a:spLocks noGrp="1" noChangeArrowheads="1"/>
          </p:cNvSpPr>
          <p:nvPr>
            <p:ph idx="1"/>
          </p:nvPr>
        </p:nvSpPr>
        <p:spPr bwMode="auto">
          <a:xfrm>
            <a:off x="687754" y="1692413"/>
            <a:ext cx="10753969" cy="4366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1800" b="1" dirty="0">
                <a:latin typeface="Times New Roman" panose="02020603050405020304" pitchFamily="18" charset="0"/>
                <a:cs typeface="Times New Roman" panose="02020603050405020304" pitchFamily="18" charset="0"/>
              </a:rPr>
              <a:t>Frontend Technologies</a:t>
            </a:r>
          </a:p>
          <a:p>
            <a:pPr marL="0" indent="0">
              <a:buNone/>
            </a:pPr>
            <a:r>
              <a:rPr lang="en-IN" sz="1800" b="1" dirty="0">
                <a:latin typeface="Times New Roman" panose="02020603050405020304" pitchFamily="18" charset="0"/>
                <a:cs typeface="Times New Roman" panose="02020603050405020304" pitchFamily="18" charset="0"/>
              </a:rPr>
              <a:t>1. </a:t>
            </a:r>
            <a:r>
              <a:rPr lang="en-IN" sz="1800" dirty="0">
                <a:latin typeface="Times New Roman" panose="02020603050405020304" pitchFamily="18" charset="0"/>
                <a:cs typeface="Times New Roman" panose="02020603050405020304" pitchFamily="18" charset="0"/>
              </a:rPr>
              <a:t>React – Single Page Application (User Interface)</a:t>
            </a:r>
          </a:p>
          <a:p>
            <a:pPr marL="0" indent="0">
              <a:buNone/>
            </a:pPr>
            <a:r>
              <a:rPr lang="en-IN" sz="1800" b="1" dirty="0">
                <a:latin typeface="Times New Roman" panose="02020603050405020304" pitchFamily="18" charset="0"/>
                <a:cs typeface="Times New Roman" panose="02020603050405020304" pitchFamily="18" charset="0"/>
              </a:rPr>
              <a:t>2. </a:t>
            </a:r>
            <a:r>
              <a:rPr lang="en-IN" sz="1800" dirty="0">
                <a:latin typeface="Times New Roman" panose="02020603050405020304" pitchFamily="18" charset="0"/>
                <a:cs typeface="Times New Roman" panose="02020603050405020304" pitchFamily="18" charset="0"/>
              </a:rPr>
              <a:t>Tailwind CSS – Responsive design and layout styling</a:t>
            </a:r>
          </a:p>
          <a:p>
            <a:pPr marL="0" indent="0">
              <a:buNone/>
            </a:pPr>
            <a:r>
              <a:rPr lang="en-IN" sz="1800" b="1" dirty="0">
                <a:latin typeface="Times New Roman" panose="02020603050405020304" pitchFamily="18" charset="0"/>
                <a:cs typeface="Times New Roman" panose="02020603050405020304" pitchFamily="18" charset="0"/>
              </a:rPr>
              <a:t>3. </a:t>
            </a:r>
            <a:r>
              <a:rPr lang="en-IN" sz="1800" dirty="0" err="1">
                <a:latin typeface="Times New Roman" panose="02020603050405020304" pitchFamily="18" charset="0"/>
                <a:cs typeface="Times New Roman" panose="02020603050405020304" pitchFamily="18" charset="0"/>
              </a:rPr>
              <a:t>shadcn</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ui</a:t>
            </a:r>
            <a:r>
              <a:rPr lang="en-IN" sz="1800" dirty="0">
                <a:latin typeface="Times New Roman" panose="02020603050405020304" pitchFamily="18" charset="0"/>
                <a:cs typeface="Times New Roman" panose="02020603050405020304" pitchFamily="18" charset="0"/>
              </a:rPr>
              <a:t> – Reusable and professional UI components</a:t>
            </a:r>
          </a:p>
          <a:p>
            <a:pPr marL="342900" indent="-342900">
              <a:buAutoNum type="arabicPeriod" startAt="4"/>
            </a:pPr>
            <a:r>
              <a:rPr lang="en-IN" sz="1800" dirty="0">
                <a:latin typeface="Times New Roman" panose="02020603050405020304" pitchFamily="18" charset="0"/>
                <a:cs typeface="Times New Roman" panose="02020603050405020304" pitchFamily="18" charset="0"/>
              </a:rPr>
              <a:t>Axios – API communication between frontend and backend.</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Backend Technologies</a:t>
            </a:r>
          </a:p>
          <a:p>
            <a:pPr marL="0" indent="0">
              <a:buNone/>
            </a:pPr>
            <a:r>
              <a:rPr lang="en-IN" sz="1800" b="1" dirty="0">
                <a:latin typeface="Times New Roman" panose="02020603050405020304" pitchFamily="18" charset="0"/>
                <a:cs typeface="Times New Roman" panose="02020603050405020304" pitchFamily="18" charset="0"/>
              </a:rPr>
              <a:t>1. </a:t>
            </a:r>
            <a:r>
              <a:rPr lang="en-IN" sz="1800" dirty="0">
                <a:latin typeface="Times New Roman" panose="02020603050405020304" pitchFamily="18" charset="0"/>
                <a:cs typeface="Times New Roman" panose="02020603050405020304" pitchFamily="18" charset="0"/>
              </a:rPr>
              <a:t>Node.js – Server-side runtime environment</a:t>
            </a:r>
          </a:p>
          <a:p>
            <a:pPr marL="0" indent="0">
              <a:buNone/>
            </a:pPr>
            <a:r>
              <a:rPr lang="en-IN" sz="1800" b="1" dirty="0">
                <a:latin typeface="Times New Roman" panose="02020603050405020304" pitchFamily="18" charset="0"/>
                <a:cs typeface="Times New Roman" panose="02020603050405020304" pitchFamily="18" charset="0"/>
              </a:rPr>
              <a:t>2. </a:t>
            </a:r>
            <a:r>
              <a:rPr lang="en-IN" sz="1800" dirty="0">
                <a:latin typeface="Times New Roman" panose="02020603050405020304" pitchFamily="18" charset="0"/>
                <a:cs typeface="Times New Roman" panose="02020603050405020304" pitchFamily="18" charset="0"/>
              </a:rPr>
              <a:t>Express.js – RESTful API development and routing</a:t>
            </a:r>
          </a:p>
          <a:p>
            <a:pPr marL="0" indent="0">
              <a:buNone/>
            </a:pPr>
            <a:r>
              <a:rPr lang="en-IN" sz="1800" b="1" dirty="0">
                <a:latin typeface="Times New Roman" panose="02020603050405020304" pitchFamily="18" charset="0"/>
                <a:cs typeface="Times New Roman" panose="02020603050405020304" pitchFamily="18" charset="0"/>
              </a:rPr>
              <a:t>3. </a:t>
            </a:r>
            <a:r>
              <a:rPr lang="en-IN" sz="1800" dirty="0">
                <a:latin typeface="Times New Roman" panose="02020603050405020304" pitchFamily="18" charset="0"/>
                <a:cs typeface="Times New Roman" panose="02020603050405020304" pitchFamily="18" charset="0"/>
              </a:rPr>
              <a:t>MongoDB – NoSQL database for data storage</a:t>
            </a:r>
          </a:p>
          <a:p>
            <a:pPr marL="0" indent="0">
              <a:buNone/>
            </a:pPr>
            <a:r>
              <a:rPr lang="en-IN" sz="1800" b="1" dirty="0">
                <a:latin typeface="Times New Roman" panose="02020603050405020304" pitchFamily="18" charset="0"/>
                <a:cs typeface="Times New Roman" panose="02020603050405020304" pitchFamily="18" charset="0"/>
              </a:rPr>
              <a:t>4. </a:t>
            </a:r>
            <a:r>
              <a:rPr lang="en-IN" sz="1800" dirty="0">
                <a:latin typeface="Times New Roman" panose="02020603050405020304" pitchFamily="18" charset="0"/>
                <a:cs typeface="Times New Roman" panose="02020603050405020304" pitchFamily="18" charset="0"/>
              </a:rPr>
              <a:t>Mongoose – Schema </a:t>
            </a:r>
            <a:r>
              <a:rPr lang="en-IN" sz="1800" dirty="0" err="1">
                <a:latin typeface="Times New Roman" panose="02020603050405020304" pitchFamily="18" charset="0"/>
                <a:cs typeface="Times New Roman" panose="02020603050405020304" pitchFamily="18" charset="0"/>
              </a:rPr>
              <a:t>modeling</a:t>
            </a:r>
            <a:r>
              <a:rPr lang="en-IN" sz="1800" dirty="0">
                <a:latin typeface="Times New Roman" panose="02020603050405020304" pitchFamily="18" charset="0"/>
                <a:cs typeface="Times New Roman" panose="02020603050405020304" pitchFamily="18" charset="0"/>
              </a:rPr>
              <a:t> and data validation</a:t>
            </a: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1183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64F3A-925D-7009-9265-2F0D9DC2FDD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TOOLS AND TECHNOLOGIES</a:t>
            </a:r>
            <a:endParaRPr lang="en-IN" dirty="0"/>
          </a:p>
        </p:txBody>
      </p:sp>
      <p:sp>
        <p:nvSpPr>
          <p:cNvPr id="3" name="Content Placeholder 2">
            <a:extLst>
              <a:ext uri="{FF2B5EF4-FFF2-40B4-BE49-F238E27FC236}">
                <a16:creationId xmlns:a16="http://schemas.microsoft.com/office/drawing/2014/main" id="{B8C9662C-5FBF-8C1C-ADFB-86CDD9698720}"/>
              </a:ext>
            </a:extLst>
          </p:cNvPr>
          <p:cNvSpPr>
            <a:spLocks noGrp="1"/>
          </p:cNvSpPr>
          <p:nvPr>
            <p:ph idx="1"/>
          </p:nvPr>
        </p:nvSpPr>
        <p:spPr>
          <a:xfrm>
            <a:off x="838200" y="1477108"/>
            <a:ext cx="10515600" cy="4699855"/>
          </a:xfrm>
        </p:spPr>
        <p:txBody>
          <a:bodyPr>
            <a:normAutofit fontScale="77500" lnSpcReduction="20000"/>
          </a:bodyPr>
          <a:lstStyle/>
          <a:p>
            <a:pPr marL="0" indent="0">
              <a:buNone/>
            </a:pPr>
            <a:r>
              <a:rPr lang="en-IN" sz="2600" b="1" dirty="0">
                <a:latin typeface="Times New Roman" panose="02020603050405020304" pitchFamily="18" charset="0"/>
                <a:cs typeface="Times New Roman" panose="02020603050405020304" pitchFamily="18" charset="0"/>
              </a:rPr>
              <a:t>Security &amp; Authentication</a:t>
            </a:r>
          </a:p>
          <a:p>
            <a:pPr marL="0" indent="0">
              <a:buNone/>
            </a:pPr>
            <a:r>
              <a:rPr lang="en-IN" sz="2600" b="1" dirty="0">
                <a:latin typeface="Times New Roman" panose="02020603050405020304" pitchFamily="18" charset="0"/>
                <a:cs typeface="Times New Roman" panose="02020603050405020304" pitchFamily="18" charset="0"/>
              </a:rPr>
              <a:t>1. </a:t>
            </a:r>
            <a:r>
              <a:rPr lang="en-IN" sz="2600" dirty="0">
                <a:latin typeface="Times New Roman" panose="02020603050405020304" pitchFamily="18" charset="0"/>
                <a:cs typeface="Times New Roman" panose="02020603050405020304" pitchFamily="18" charset="0"/>
              </a:rPr>
              <a:t>JSON Web Token (JWT) – Stateless user authentication</a:t>
            </a:r>
          </a:p>
          <a:p>
            <a:pPr marL="0" indent="0">
              <a:buNone/>
            </a:pPr>
            <a:r>
              <a:rPr lang="en-IN" sz="2600" b="1" dirty="0">
                <a:latin typeface="Times New Roman" panose="02020603050405020304" pitchFamily="18" charset="0"/>
                <a:cs typeface="Times New Roman" panose="02020603050405020304" pitchFamily="18" charset="0"/>
              </a:rPr>
              <a:t>2. </a:t>
            </a:r>
            <a:r>
              <a:rPr lang="en-IN" sz="2600" dirty="0" err="1">
                <a:latin typeface="Times New Roman" panose="02020603050405020304" pitchFamily="18" charset="0"/>
                <a:cs typeface="Times New Roman" panose="02020603050405020304" pitchFamily="18" charset="0"/>
              </a:rPr>
              <a:t>bcrypt</a:t>
            </a:r>
            <a:r>
              <a:rPr lang="en-IN" sz="2600" dirty="0">
                <a:latin typeface="Times New Roman" panose="02020603050405020304" pitchFamily="18" charset="0"/>
                <a:cs typeface="Times New Roman" panose="02020603050405020304" pitchFamily="18" charset="0"/>
              </a:rPr>
              <a:t> – Secure password encryption</a:t>
            </a:r>
          </a:p>
          <a:p>
            <a:pPr marL="0" indent="0">
              <a:buNone/>
            </a:pPr>
            <a:br>
              <a:rPr lang="en-IN" sz="2600" dirty="0">
                <a:latin typeface="Times New Roman" panose="02020603050405020304" pitchFamily="18" charset="0"/>
                <a:cs typeface="Times New Roman" panose="02020603050405020304" pitchFamily="18" charset="0"/>
              </a:rPr>
            </a:br>
            <a:r>
              <a:rPr lang="en-IN" sz="2600" b="1" dirty="0">
                <a:latin typeface="Times New Roman" panose="02020603050405020304" pitchFamily="18" charset="0"/>
                <a:cs typeface="Times New Roman" panose="02020603050405020304" pitchFamily="18" charset="0"/>
              </a:rPr>
              <a:t>AI Integration</a:t>
            </a:r>
          </a:p>
          <a:p>
            <a:pPr marL="0" indent="0">
              <a:buNone/>
            </a:pPr>
            <a:r>
              <a:rPr lang="en-IN" sz="2600" dirty="0" err="1">
                <a:latin typeface="Times New Roman" panose="02020603050405020304" pitchFamily="18" charset="0"/>
                <a:cs typeface="Times New Roman" panose="02020603050405020304" pitchFamily="18" charset="0"/>
              </a:rPr>
              <a:t>Ollama</a:t>
            </a:r>
            <a:r>
              <a:rPr lang="en-IN" sz="2600" dirty="0">
                <a:latin typeface="Times New Roman" panose="02020603050405020304" pitchFamily="18" charset="0"/>
                <a:cs typeface="Times New Roman" panose="02020603050405020304" pitchFamily="18" charset="0"/>
              </a:rPr>
              <a:t> – Local Large Language Model (LLM) engine for AI assistance</a:t>
            </a:r>
            <a:br>
              <a:rPr lang="en-IN" sz="2600" dirty="0">
                <a:latin typeface="Times New Roman" panose="02020603050405020304" pitchFamily="18" charset="0"/>
                <a:cs typeface="Times New Roman" panose="02020603050405020304" pitchFamily="18" charset="0"/>
              </a:rPr>
            </a:br>
            <a:endParaRPr lang="en-IN" sz="2600" dirty="0">
              <a:latin typeface="Times New Roman" panose="02020603050405020304" pitchFamily="18" charset="0"/>
              <a:cs typeface="Times New Roman" panose="02020603050405020304" pitchFamily="18" charset="0"/>
            </a:endParaRPr>
          </a:p>
          <a:p>
            <a:pPr marL="0" indent="0">
              <a:buNone/>
            </a:pPr>
            <a:r>
              <a:rPr lang="en-IN" sz="2600" b="1" dirty="0">
                <a:latin typeface="Times New Roman" panose="02020603050405020304" pitchFamily="18" charset="0"/>
                <a:cs typeface="Times New Roman" panose="02020603050405020304" pitchFamily="18" charset="0"/>
              </a:rPr>
              <a:t> Development &amp; Deployment Tools</a:t>
            </a:r>
          </a:p>
          <a:p>
            <a:pPr marL="0" indent="0">
              <a:buNone/>
            </a:pPr>
            <a:r>
              <a:rPr lang="en-IN" sz="2600" b="1" dirty="0">
                <a:latin typeface="Times New Roman" panose="02020603050405020304" pitchFamily="18" charset="0"/>
                <a:cs typeface="Times New Roman" panose="02020603050405020304" pitchFamily="18" charset="0"/>
              </a:rPr>
              <a:t>1. </a:t>
            </a:r>
            <a:r>
              <a:rPr lang="en-IN" sz="2600" dirty="0">
                <a:latin typeface="Times New Roman" panose="02020603050405020304" pitchFamily="18" charset="0"/>
                <a:cs typeface="Times New Roman" panose="02020603050405020304" pitchFamily="18" charset="0"/>
              </a:rPr>
              <a:t>Visual Studio Code – Code editor</a:t>
            </a:r>
          </a:p>
          <a:p>
            <a:pPr marL="0" indent="0">
              <a:buNone/>
            </a:pPr>
            <a:r>
              <a:rPr lang="en-IN" sz="2600" b="1" dirty="0">
                <a:latin typeface="Times New Roman" panose="02020603050405020304" pitchFamily="18" charset="0"/>
                <a:cs typeface="Times New Roman" panose="02020603050405020304" pitchFamily="18" charset="0"/>
              </a:rPr>
              <a:t>2. </a:t>
            </a:r>
            <a:r>
              <a:rPr lang="en-IN" sz="2600" dirty="0">
                <a:latin typeface="Times New Roman" panose="02020603050405020304" pitchFamily="18" charset="0"/>
                <a:cs typeface="Times New Roman" panose="02020603050405020304" pitchFamily="18" charset="0"/>
              </a:rPr>
              <a:t>Git – Version control system</a:t>
            </a:r>
          </a:p>
          <a:p>
            <a:pPr marL="0" indent="0">
              <a:buNone/>
            </a:pPr>
            <a:r>
              <a:rPr lang="en-IN" sz="2600" b="1" dirty="0">
                <a:latin typeface="Times New Roman" panose="02020603050405020304" pitchFamily="18" charset="0"/>
                <a:cs typeface="Times New Roman" panose="02020603050405020304" pitchFamily="18" charset="0"/>
              </a:rPr>
              <a:t>3. </a:t>
            </a:r>
            <a:r>
              <a:rPr lang="en-IN" sz="2600" dirty="0">
                <a:latin typeface="Times New Roman" panose="02020603050405020304" pitchFamily="18" charset="0"/>
                <a:cs typeface="Times New Roman" panose="02020603050405020304" pitchFamily="18" charset="0"/>
              </a:rPr>
              <a:t>GitHub – Source code hosting and collaboration</a:t>
            </a:r>
          </a:p>
          <a:p>
            <a:pPr marL="0" indent="0">
              <a:buNone/>
            </a:pPr>
            <a:r>
              <a:rPr lang="en-IN" sz="2600" b="1" dirty="0">
                <a:latin typeface="Times New Roman" panose="02020603050405020304" pitchFamily="18" charset="0"/>
                <a:cs typeface="Times New Roman" panose="02020603050405020304" pitchFamily="18" charset="0"/>
              </a:rPr>
              <a:t>4. </a:t>
            </a:r>
            <a:r>
              <a:rPr lang="en-IN" sz="2600" dirty="0">
                <a:latin typeface="Times New Roman" panose="02020603050405020304" pitchFamily="18" charset="0"/>
                <a:cs typeface="Times New Roman" panose="02020603050405020304" pitchFamily="18" charset="0"/>
              </a:rPr>
              <a:t>Postman – API testing and validation</a:t>
            </a:r>
          </a:p>
          <a:p>
            <a:pPr marL="0" indent="0">
              <a:buNone/>
            </a:pPr>
            <a:r>
              <a:rPr lang="en-IN" sz="2600" b="1" dirty="0">
                <a:latin typeface="Times New Roman" panose="02020603050405020304" pitchFamily="18" charset="0"/>
                <a:cs typeface="Times New Roman" panose="02020603050405020304" pitchFamily="18" charset="0"/>
              </a:rPr>
              <a:t>5. </a:t>
            </a:r>
            <a:r>
              <a:rPr lang="en-IN" sz="2600" dirty="0" err="1">
                <a:latin typeface="Times New Roman" panose="02020603050405020304" pitchFamily="18" charset="0"/>
                <a:cs typeface="Times New Roman" panose="02020603050405020304" pitchFamily="18" charset="0"/>
              </a:rPr>
              <a:t>PlantUML</a:t>
            </a:r>
            <a:r>
              <a:rPr lang="en-IN" sz="2600" dirty="0">
                <a:latin typeface="Times New Roman" panose="02020603050405020304" pitchFamily="18" charset="0"/>
                <a:cs typeface="Times New Roman" panose="02020603050405020304" pitchFamily="18" charset="0"/>
              </a:rPr>
              <a:t> – System and UML diagram creation</a:t>
            </a:r>
          </a:p>
          <a:p>
            <a:pPr marL="0" indent="0">
              <a:buNone/>
            </a:pPr>
            <a:r>
              <a:rPr lang="en-IN" sz="2600" b="1" dirty="0">
                <a:latin typeface="Times New Roman" panose="02020603050405020304" pitchFamily="18" charset="0"/>
                <a:cs typeface="Times New Roman" panose="02020603050405020304" pitchFamily="18" charset="0"/>
              </a:rPr>
              <a:t>6. </a:t>
            </a:r>
            <a:r>
              <a:rPr lang="en-IN" sz="2600" dirty="0" err="1">
                <a:latin typeface="Times New Roman" panose="02020603050405020304" pitchFamily="18" charset="0"/>
                <a:cs typeface="Times New Roman" panose="02020603050405020304" pitchFamily="18" charset="0"/>
              </a:rPr>
              <a:t>npm</a:t>
            </a:r>
            <a:r>
              <a:rPr lang="en-IN" sz="2600" dirty="0">
                <a:latin typeface="Times New Roman" panose="02020603050405020304" pitchFamily="18" charset="0"/>
                <a:cs typeface="Times New Roman" panose="02020603050405020304" pitchFamily="18" charset="0"/>
              </a:rPr>
              <a:t> – Package and dependency management</a:t>
            </a:r>
          </a:p>
          <a:p>
            <a:endParaRPr lang="en-IN" dirty="0"/>
          </a:p>
        </p:txBody>
      </p:sp>
    </p:spTree>
    <p:extLst>
      <p:ext uri="{BB962C8B-B14F-4D97-AF65-F5344CB8AC3E}">
        <p14:creationId xmlns:p14="http://schemas.microsoft.com/office/powerpoint/2010/main" val="252130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482" y="365125"/>
            <a:ext cx="10515600" cy="672565"/>
          </a:xfrm>
        </p:spPr>
        <p:txBody>
          <a:bodyPr>
            <a:normAutofit/>
          </a:bodyPr>
          <a:lstStyle/>
          <a:p>
            <a:pPr algn="ctr"/>
            <a:r>
              <a:rPr lang="en-IN" sz="4200" dirty="0">
                <a:latin typeface="Times New Roman" panose="02020603050405020304" pitchFamily="18" charset="0"/>
                <a:cs typeface="Times New Roman" panose="02020603050405020304" pitchFamily="18" charset="0"/>
              </a:rPr>
              <a:t>ARCHITECTURE DIAGRAM​</a:t>
            </a:r>
            <a:endParaRPr lang="en-US" sz="42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2B771FB3-48AB-4329-71D1-51F0B199429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153265" y="1524000"/>
            <a:ext cx="7991104" cy="5221234"/>
          </a:xfrm>
          <a:prstGeom prst="rect">
            <a:avLst/>
          </a:prstGeom>
        </p:spPr>
      </p:pic>
    </p:spTree>
    <p:extLst>
      <p:ext uri="{BB962C8B-B14F-4D97-AF65-F5344CB8AC3E}">
        <p14:creationId xmlns:p14="http://schemas.microsoft.com/office/powerpoint/2010/main" val="4008141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8871"/>
          </a:xfrm>
        </p:spPr>
        <p:txBody>
          <a:bodyPr>
            <a:normAutofit/>
          </a:bodyPr>
          <a:lstStyle/>
          <a:p>
            <a:pPr algn="ctr"/>
            <a:r>
              <a:rPr lang="en-US" sz="4200"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838200" y="1730477"/>
            <a:ext cx="10983686" cy="4446486"/>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This project successfully demonstrates the design and implementation of a secure, role-based project management system integrated with AI assistance.</a:t>
            </a:r>
          </a:p>
          <a:p>
            <a:r>
              <a:rPr lang="en-US" sz="1800" dirty="0">
                <a:latin typeface="Times New Roman" panose="02020603050405020304" pitchFamily="18" charset="0"/>
                <a:cs typeface="Times New Roman" panose="02020603050405020304" pitchFamily="18" charset="0"/>
              </a:rPr>
              <a:t>Key outcomes include:</a:t>
            </a:r>
          </a:p>
          <a:p>
            <a:r>
              <a:rPr lang="en-US" sz="1800" dirty="0">
                <a:latin typeface="Times New Roman" panose="02020603050405020304" pitchFamily="18" charset="0"/>
                <a:cs typeface="Times New Roman" panose="02020603050405020304" pitchFamily="18" charset="0"/>
              </a:rPr>
              <a:t>Effective enforcement of Role-Based Access Control</a:t>
            </a:r>
          </a:p>
          <a:p>
            <a:r>
              <a:rPr lang="en-US" sz="1800" dirty="0">
                <a:latin typeface="Times New Roman" panose="02020603050405020304" pitchFamily="18" charset="0"/>
                <a:cs typeface="Times New Roman" panose="02020603050405020304" pitchFamily="18" charset="0"/>
              </a:rPr>
              <a:t>Improved productivity through AI-assisted query handling and task support</a:t>
            </a:r>
          </a:p>
          <a:p>
            <a:r>
              <a:rPr lang="en-US" sz="1800" dirty="0">
                <a:latin typeface="Times New Roman" panose="02020603050405020304" pitchFamily="18" charset="0"/>
                <a:cs typeface="Times New Roman" panose="02020603050405020304" pitchFamily="18" charset="0"/>
              </a:rPr>
              <a:t>Secure management of projects, tasks, and documents</a:t>
            </a:r>
          </a:p>
          <a:p>
            <a:r>
              <a:rPr lang="en-US" sz="1800" dirty="0">
                <a:latin typeface="Times New Roman" panose="02020603050405020304" pitchFamily="18" charset="0"/>
                <a:cs typeface="Times New Roman" panose="02020603050405020304" pitchFamily="18" charset="0"/>
              </a:rPr>
              <a:t>Scalable and modular architecture suitable for enterprise environments</a:t>
            </a:r>
          </a:p>
          <a:p>
            <a:pPr marL="0" indent="0">
              <a:buNone/>
            </a:pPr>
            <a:r>
              <a:rPr lang="en-US" sz="1800" dirty="0">
                <a:latin typeface="Times New Roman" panose="02020603050405020304" pitchFamily="18" charset="0"/>
                <a:cs typeface="Times New Roman" panose="02020603050405020304" pitchFamily="18" charset="0"/>
              </a:rPr>
              <a:t>The system enhances collaboration, accountability, and operational efficiency while ensuring that AI assistance does not violate organizational security or hierarchy.</a:t>
            </a:r>
          </a:p>
        </p:txBody>
      </p:sp>
    </p:spTree>
    <p:extLst>
      <p:ext uri="{BB962C8B-B14F-4D97-AF65-F5344CB8AC3E}">
        <p14:creationId xmlns:p14="http://schemas.microsoft.com/office/powerpoint/2010/main" val="9676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D2F6-7E47-001E-6917-3474E04E6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258E6-C05E-E1D4-DA28-8467492055CC}"/>
              </a:ext>
            </a:extLst>
          </p:cNvPr>
          <p:cNvSpPr>
            <a:spLocks noGrp="1"/>
          </p:cNvSpPr>
          <p:nvPr>
            <p:ph type="title"/>
          </p:nvPr>
        </p:nvSpPr>
        <p:spPr>
          <a:xfrm>
            <a:off x="838200" y="365126"/>
            <a:ext cx="10515600" cy="765032"/>
          </a:xfrm>
        </p:spPr>
        <p:txBody>
          <a:bodyPr>
            <a:normAutofit/>
          </a:bodyPr>
          <a:lstStyle/>
          <a:p>
            <a:pPr algn="ctr"/>
            <a:r>
              <a:rPr lang="en-US" sz="4200" dirty="0">
                <a:latin typeface="Times New Roman" panose="02020603050405020304" pitchFamily="18" charset="0"/>
                <a:cs typeface="Times New Roman" panose="02020603050405020304" pitchFamily="18" charset="0"/>
              </a:rPr>
              <a:t>REFERENCES</a:t>
            </a:r>
          </a:p>
        </p:txBody>
      </p:sp>
      <p:sp>
        <p:nvSpPr>
          <p:cNvPr id="5" name="Rectangle 2">
            <a:extLst>
              <a:ext uri="{FF2B5EF4-FFF2-40B4-BE49-F238E27FC236}">
                <a16:creationId xmlns:a16="http://schemas.microsoft.com/office/drawing/2014/main" id="{F2143038-3FB3-42F5-3161-8BFFA7DDA466}"/>
              </a:ext>
            </a:extLst>
          </p:cNvPr>
          <p:cNvSpPr>
            <a:spLocks noGrp="1" noChangeArrowheads="1"/>
          </p:cNvSpPr>
          <p:nvPr>
            <p:ph idx="1"/>
          </p:nvPr>
        </p:nvSpPr>
        <p:spPr bwMode="auto">
          <a:xfrm>
            <a:off x="441203" y="1412296"/>
            <a:ext cx="11309594"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Nikolakopoulos et al.,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Exploring the Potential of Offline LLMs in Data Science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 Access, 2025.</a:t>
            </a:r>
          </a:p>
          <a:p>
            <a:pPr marL="0" marR="0" lvl="0" indent="0" defTabSz="914400" rtl="0" eaLnBrk="0" fontAlgn="base" latinLnBrk="0" hangingPunct="0">
              <a:lnSpc>
                <a:spcPct val="150000"/>
              </a:lnSpc>
              <a:spcBef>
                <a:spcPct val="0"/>
              </a:spcBef>
              <a:spcAft>
                <a:spcPct val="0"/>
              </a:spcAft>
              <a:buClrTx/>
              <a:buSzTx/>
              <a:buNone/>
              <a:tabLst/>
            </a:pPr>
            <a:r>
              <a:rPr lang="en-US" altLang="en-US" sz="1800" b="1" dirty="0">
                <a:latin typeface="Times New Roman" panose="02020603050405020304" pitchFamily="18" charset="0"/>
                <a:cs typeface="Times New Roman" panose="02020603050405020304" pitchFamily="18" charset="0"/>
              </a:rPr>
              <a:t>2.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 Ebert &amp; P.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Louridas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Generative AI for Software Practitioners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 Software, 2023.</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Fan et al.,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 Language Models for Software Engineering</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IEEE/ACM ICSE, 2023.</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M.-F. Wong et al.,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AI-Assisted Programming Using Large Language Models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Entropy, 2023.</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 Sahoo et al.,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Survey on Prompt Engineering in Large Language Models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arXiv</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2024.</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 I. Ross et al.,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Conversational AI Assistants for Software Development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ACM IUI, 2023.</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NIST,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Role-Based Access Control (RBAC) Standard</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USA.</a:t>
            </a:r>
          </a:p>
        </p:txBody>
      </p:sp>
    </p:spTree>
    <p:extLst>
      <p:ext uri="{BB962C8B-B14F-4D97-AF65-F5344CB8AC3E}">
        <p14:creationId xmlns:p14="http://schemas.microsoft.com/office/powerpoint/2010/main" val="2057149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TotalTime>
  <Words>910</Words>
  <Application>Microsoft Office PowerPoint</Application>
  <PresentationFormat>Widescreen</PresentationFormat>
  <Paragraphs>65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LEVERAGING LOCAL LLM’s TO BENEFIT PC USERS AND FINE-TUNE PCs FOR PROFFESSIONAL WORKERS</vt:lpstr>
      <vt:lpstr>PROBLEM STATEMENT</vt:lpstr>
      <vt:lpstr>ABSTRACT</vt:lpstr>
      <vt:lpstr>INTRODUCTION</vt:lpstr>
      <vt:lpstr>TOOLS AND TECHNOLOGIES</vt:lpstr>
      <vt:lpstr>          TOOLS AND TECHNOLOGIES</vt:lpstr>
      <vt:lpstr>ARCHITECTURE DIAGRAM​</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Dilip Kumar</cp:lastModifiedBy>
  <cp:revision>18</cp:revision>
  <dcterms:created xsi:type="dcterms:W3CDTF">2026-01-16T07:30:45Z</dcterms:created>
  <dcterms:modified xsi:type="dcterms:W3CDTF">2026-02-06T05:10:36Z</dcterms:modified>
</cp:coreProperties>
</file>